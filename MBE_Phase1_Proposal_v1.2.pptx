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9" r:id="rId3"/>
    <p:sldId id="273" r:id="rId4"/>
    <p:sldId id="274" r:id="rId5"/>
    <p:sldId id="272" r:id="rId6"/>
    <p:sldId id="258" r:id="rId7"/>
    <p:sldId id="257" r:id="rId8"/>
    <p:sldId id="275" r:id="rId9"/>
    <p:sldId id="262" r:id="rId10"/>
    <p:sldId id="263" r:id="rId11"/>
    <p:sldId id="276" r:id="rId12"/>
    <p:sldId id="264" r:id="rId13"/>
    <p:sldId id="271" r:id="rId14"/>
    <p:sldId id="268" r:id="rId15"/>
    <p:sldId id="269" r:id="rId16"/>
    <p:sldId id="270" r:id="rId17"/>
    <p:sldId id="265" r:id="rId18"/>
    <p:sldId id="266" r:id="rId19"/>
    <p:sldId id="267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3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392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9A44E-A035-B306-A0CE-DC77B91FA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F3FF11-AF2F-5519-917D-28809BFB98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F2F9A6-B881-ABFF-7F20-D69E6AD03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9E923-C6D3-7262-68BE-742B92458A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68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FF2AB-0BFD-8868-D6E4-35DFF661F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A25A0D-A5A4-9279-E69D-3F3003FEED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CF2248-850C-2A89-0C5B-13BEAB72A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3681D-4646-6627-6DF5-B5A489B084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420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D1950-32E1-36CD-A593-42305EEE1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76622B-947E-D620-610E-A3A24A976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2EE9A4-BB4C-16E3-0B27-DC2AE9E59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C01C1-A9D5-BA20-DAB6-1D4A826E88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91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A2777-2060-E294-CC5F-5D9A6A516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C09F59-B4A2-4856-96A8-62BC9E306B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4367C2-52BA-2A35-B7E6-D0A312E960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0CE11-0BDB-61BD-2EA5-B1DAAB7D3E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6095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ontent page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D7EC9B8-2448-44D1-48FE-B874C292D767}"/>
              </a:ext>
            </a:extLst>
          </p:cNvPr>
          <p:cNvSpPr>
            <a:spLocks noChangeAspect="1"/>
          </p:cNvSpPr>
          <p:nvPr userDrawn="1"/>
        </p:nvSpPr>
        <p:spPr>
          <a:xfrm>
            <a:off x="535352" y="6462025"/>
            <a:ext cx="86400" cy="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HK" altLang="en-US" sz="2400">
              <a:solidFill>
                <a:srgbClr val="000000"/>
              </a:solidFill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D7581C61-86A2-7ECE-B1AA-3B4253FE29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77787" y="6254726"/>
            <a:ext cx="912000" cy="296204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9E07604B-DFAB-4F38-10F3-ED1484DD249A}"/>
              </a:ext>
            </a:extLst>
          </p:cNvPr>
          <p:cNvSpPr/>
          <p:nvPr userDrawn="1"/>
        </p:nvSpPr>
        <p:spPr>
          <a:xfrm>
            <a:off x="11569700" y="6451874"/>
            <a:ext cx="97093" cy="970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HK" altLang="en-US" sz="2400">
              <a:solidFill>
                <a:srgbClr val="000000"/>
              </a:solidFill>
            </a:endParaRPr>
          </a:p>
        </p:txBody>
      </p:sp>
      <p:sp>
        <p:nvSpPr>
          <p:cNvPr id="17" name="Page #">
            <a:extLst>
              <a:ext uri="{FF2B5EF4-FFF2-40B4-BE49-F238E27FC236}">
                <a16:creationId xmlns:a16="http://schemas.microsoft.com/office/drawing/2014/main" id="{CC2EF8B8-7DBD-003C-CEF2-54A1BC63357C}"/>
              </a:ext>
            </a:extLst>
          </p:cNvPr>
          <p:cNvSpPr txBox="1"/>
          <p:nvPr userDrawn="1"/>
        </p:nvSpPr>
        <p:spPr>
          <a:xfrm>
            <a:off x="11569701" y="6239279"/>
            <a:ext cx="753908" cy="175992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>
              <a:defRPr>
                <a:solidFill>
                  <a:srgbClr val="000000"/>
                </a:solidFill>
                <a:latin typeface="+mn-lt" charset="0"/>
                <a:ea typeface="+mn-lt" charset="0"/>
                <a:cs typeface="+mn-lt" charset="0"/>
              </a:defRPr>
            </a:lvl1pPr>
          </a:lstStyle>
          <a:p>
            <a:pPr lvl="0" algn="l">
              <a:lnSpc>
                <a:spcPts val="1333"/>
              </a:lnSpc>
            </a:pPr>
            <a:fld id="{DA68CEF4-E06B-2F45-9C1B-34EEEC442DB9}" type="slidenum">
              <a:rPr lang="en-GB" sz="800" b="0" i="0" smtClean="0">
                <a:latin typeface="+mj-lt"/>
                <a:ea typeface="Arial" charset="0"/>
                <a:cs typeface="Arial" panose="020B0604020202020204" pitchFamily="34" charset="0"/>
              </a:rPr>
              <a:pPr lvl="0" algn="l">
                <a:lnSpc>
                  <a:spcPts val="1333"/>
                </a:lnSpc>
              </a:pPr>
              <a:t>‹#›</a:t>
            </a:fld>
            <a:endParaRPr lang="en-GB" sz="800" b="0" i="0" dirty="0">
              <a:latin typeface="+mj-lt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24" name="圖片版面配置區 23">
            <a:extLst>
              <a:ext uri="{FF2B5EF4-FFF2-40B4-BE49-F238E27FC236}">
                <a16:creationId xmlns:a16="http://schemas.microsoft.com/office/drawing/2014/main" id="{6749BF15-6C12-41D3-0D8A-CB70EA167EE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4915" y="1845733"/>
            <a:ext cx="10562167" cy="4307416"/>
          </a:xfrm>
        </p:spPr>
        <p:txBody>
          <a:bodyPr/>
          <a:lstStyle/>
          <a:p>
            <a:endParaRPr kumimoji="1" lang="zh-HK" altLang="en-US" dirty="0"/>
          </a:p>
        </p:txBody>
      </p: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9CC3E18B-E9A5-FCE4-20DD-7E61EB8C9D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5353" y="307071"/>
            <a:ext cx="11131441" cy="5727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3200" b="0" i="0">
                <a:solidFill>
                  <a:schemeClr val="bg2"/>
                </a:solidFill>
                <a:latin typeface="Avenir Next Medium" panose="020B0503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Headline font in Avenir Next and 24pt font size which is adjustable</a:t>
            </a:r>
            <a:endParaRPr kumimoji="1" lang="zh-TW" altLang="en-US" dirty="0"/>
          </a:p>
        </p:txBody>
      </p:sp>
      <p:sp>
        <p:nvSpPr>
          <p:cNvPr id="21" name="內容版面配置區 17">
            <a:extLst>
              <a:ext uri="{FF2B5EF4-FFF2-40B4-BE49-F238E27FC236}">
                <a16:creationId xmlns:a16="http://schemas.microsoft.com/office/drawing/2014/main" id="{BE97CF67-A76D-8D9B-3C17-3F3279B7937A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814915" y="617005"/>
            <a:ext cx="1693440" cy="2815482"/>
          </a:xfrm>
          <a:solidFill>
            <a:schemeClr val="tx1"/>
          </a:solidFill>
        </p:spPr>
        <p:txBody>
          <a:bodyPr wrap="square" lIns="72000" tIns="72000" rIns="72000" bIns="72000" anchor="ctr">
            <a:spAutoFit/>
          </a:bodyPr>
          <a:lstStyle>
            <a:lvl1pPr>
              <a:defRPr sz="1067" b="0" i="0">
                <a:latin typeface="Avenir Next" panose="020B0503020202020204" pitchFamily="34" charset="0"/>
              </a:defRPr>
            </a:lvl1pPr>
          </a:lstStyle>
          <a:p>
            <a:pPr lvl="0"/>
            <a:r>
              <a:rPr kumimoji="1" lang="en-US" altLang="zh-TW" dirty="0"/>
              <a:t>Short title in regular 8pt</a:t>
            </a:r>
            <a:endParaRPr kumimoji="1" lang="zh-HK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FABE4217-8F66-2E01-24FA-4F7A53081E90}"/>
              </a:ext>
            </a:extLst>
          </p:cNvPr>
          <p:cNvSpPr txBox="1"/>
          <p:nvPr userDrawn="1"/>
        </p:nvSpPr>
        <p:spPr>
          <a:xfrm rot="5400000">
            <a:off x="-1205279" y="4500737"/>
            <a:ext cx="3567660" cy="1435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lvl="0" algn="r"/>
            <a:r>
              <a:rPr kumimoji="1" lang="en-US" altLang="zh-HK" sz="933" b="1" i="0" kern="1200" dirty="0">
                <a:solidFill>
                  <a:srgbClr val="000000"/>
                </a:solidFill>
                <a:latin typeface="Avenir Next Demi Bold" panose="020B0503020202020204" pitchFamily="34" charset="0"/>
                <a:ea typeface="+mn-ea"/>
                <a:cs typeface="+mn-cs"/>
              </a:rPr>
              <a:t>CONFIDENTIAL &amp; RESTRICTED BY MRDI</a:t>
            </a:r>
            <a:endParaRPr kumimoji="1" lang="zh-HK" altLang="en-US" sz="933" b="1" i="0" kern="1200" dirty="0">
              <a:solidFill>
                <a:srgbClr val="000000"/>
              </a:solidFill>
              <a:latin typeface="Avenir Next Demi Bold" panose="020B0503020202020204" pitchFamily="34" charset="0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C1E9CB5-F975-AAFA-2826-9CEB02362329}"/>
              </a:ext>
            </a:extLst>
          </p:cNvPr>
          <p:cNvCxnSpPr>
            <a:cxnSpLocks/>
          </p:cNvCxnSpPr>
          <p:nvPr userDrawn="1"/>
        </p:nvCxnSpPr>
        <p:spPr>
          <a:xfrm>
            <a:off x="535353" y="879959"/>
            <a:ext cx="11131441" cy="0"/>
          </a:xfrm>
          <a:prstGeom prst="line">
            <a:avLst/>
          </a:prstGeom>
          <a:ln w="19050"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EB511190-00E4-1535-12B0-6CB54E6D2C4D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14915" y="1026333"/>
            <a:ext cx="8737600" cy="8192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Font typeface="Wingdings" panose="05000000000000000000" pitchFamily="2" charset="2"/>
              <a:buChar char="q"/>
              <a:defRPr sz="2667" b="0" i="0">
                <a:solidFill>
                  <a:schemeClr val="bg2">
                    <a:lumMod val="75000"/>
                  </a:schemeClr>
                </a:solidFill>
                <a:latin typeface="Avenir Next Medium" panose="020B0503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Headline font in Avenir Next and</a:t>
            </a:r>
          </a:p>
          <a:p>
            <a:pPr lvl="0"/>
            <a:r>
              <a:rPr kumimoji="1" lang="en-US" altLang="zh-TW" dirty="0"/>
              <a:t>24pt font size which is adjustable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2402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jp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256032" cy="256032"/>
          </a:xfrm>
          <a:prstGeom prst="rect">
            <a:avLst/>
          </a:prstGeom>
          <a:solidFill>
            <a:srgbClr val="00B3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ITF PROJECT PROPOSAL · FOR REVIEW COMMITTEE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1600200"/>
            <a:ext cx="6583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700" b="1" dirty="0" err="1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</a:t>
            </a:r>
            <a:r>
              <a:rPr lang="en-US" sz="47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Molecular Beam Epitaxy regrowth Platform</a:t>
            </a:r>
            <a:endParaRPr lang="en-US" sz="4700" dirty="0"/>
          </a:p>
        </p:txBody>
      </p:sp>
      <p:sp>
        <p:nvSpPr>
          <p:cNvPr id="5" name="Text 3"/>
          <p:cNvSpPr/>
          <p:nvPr/>
        </p:nvSpPr>
        <p:spPr>
          <a:xfrm>
            <a:off x="566928" y="361188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of the 8-12 inch domestic MBE cluster: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MBE growth module and in-vacuum anneal module, built first.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457200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HK$49.0M · 24 months</a:t>
            </a: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within the HK$50M ITF platform-project envelope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580644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6419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 · Hong Kong SAR</a:t>
            </a:r>
            <a:endParaRPr lang="en-US" sz="1000" dirty="0"/>
          </a:p>
        </p:txBody>
      </p:sp>
      <p:pic>
        <p:nvPicPr>
          <p:cNvPr id="9" name="Image 0" descr="assets/prevac_syst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960120"/>
            <a:ext cx="4846320" cy="42885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86600" y="5349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Self-built MBE system class — in-house design, globally sourced components</a:t>
            </a:r>
            <a:endParaRPr lang="en-US" sz="900" dirty="0"/>
          </a:p>
        </p:txBody>
      </p:sp>
      <p:pic>
        <p:nvPicPr>
          <p:cNvPr id="11" name="Image 1" descr="assets/mrd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3032" y="6172200"/>
            <a:ext cx="1234440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59459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MBE PLATFORM PROPOSAL · TARGET PROCESS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target process: selective-area regrowth (SAG)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10185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altLang="zh-CN" sz="1600" dirty="0" err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</a:t>
            </a:r>
            <a:r>
              <a:rPr lang="en-US" altLang="zh-CN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regrowth has been extensively studied in academia. </a:t>
            </a:r>
            <a:r>
              <a:rPr lang="en-US" altLang="zh-CN" sz="16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is going to follow</a:t>
            </a:r>
            <a:r>
              <a:rPr lang="en-US" altLang="zh-CN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endParaRPr lang="en-US" sz="16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F171B8F-25CB-CFE4-C5DB-7230CE606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415" y="2360366"/>
            <a:ext cx="3165708" cy="230041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A82C970-CFCD-E65F-A8F9-0B14A863E038}"/>
              </a:ext>
            </a:extLst>
          </p:cNvPr>
          <p:cNvSpPr txBox="1"/>
          <p:nvPr/>
        </p:nvSpPr>
        <p:spPr>
          <a:xfrm>
            <a:off x="1206274" y="2782669"/>
            <a:ext cx="28023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Source/Drain regrowth</a:t>
            </a: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Ultra-low contact resistance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3E481C-A30B-840F-E8B2-AC9A6789604E}"/>
              </a:ext>
            </a:extLst>
          </p:cNvPr>
          <p:cNvSpPr txBox="1"/>
          <p:nvPr/>
        </p:nvSpPr>
        <p:spPr>
          <a:xfrm>
            <a:off x="1206274" y="3765181"/>
            <a:ext cx="335905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Son. 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First demonstration of </a:t>
            </a:r>
            <a:r>
              <a:rPr lang="en-US" altLang="zh-CN" sz="1100" dirty="0">
                <a:solidFill>
                  <a:srgbClr val="FF0000"/>
                </a:solidFill>
              </a:rPr>
              <a:t>fmax &gt; 700 GHz 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 Lg = 45 nm In0.13Al0.83Ga0.04N/</a:t>
            </a:r>
            <a:r>
              <a:rPr lang="en-US" altLang="zh-CN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GaN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HEMTs </a:t>
            </a:r>
          </a:p>
          <a:p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 future 6G applications. 2026</a:t>
            </a:r>
            <a:endParaRPr lang="en-HK" altLang="zh-CN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474B51-32ED-39D4-4791-1E5196EEB3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8506" y="2360366"/>
            <a:ext cx="3335976" cy="2665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5328A-FE04-42E1-3744-D5916AF84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76B7BAC-3EEE-DAD3-F0C7-7E2801511E6B}"/>
              </a:ext>
            </a:extLst>
          </p:cNvPr>
          <p:cNvSpPr/>
          <p:nvPr/>
        </p:nvSpPr>
        <p:spPr>
          <a:xfrm>
            <a:off x="1159459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F62C38B-45B5-A0C6-4942-0A1F8C8A9513}"/>
              </a:ext>
            </a:extLst>
          </p:cNvPr>
          <p:cNvSpPr/>
          <p:nvPr/>
        </p:nvSpPr>
        <p:spPr>
          <a:xfrm>
            <a:off x="566928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MBE PLATFORM PROPOSAL · TARGET PROCESS</a:t>
            </a:r>
            <a:endParaRPr lang="en-US" sz="1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C2CEE21-5A19-CF33-20E1-C5EABD984F01}"/>
              </a:ext>
            </a:extLst>
          </p:cNvPr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target process: selective-area regrowth </a:t>
            </a:r>
            <a:r>
              <a:rPr lang="en-US" altLang="zh-CN" sz="26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(SAG)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97CEB66-760B-FC3F-BF2B-E519CDCCE7F8}"/>
              </a:ext>
            </a:extLst>
          </p:cNvPr>
          <p:cNvSpPr/>
          <p:nvPr/>
        </p:nvSpPr>
        <p:spPr>
          <a:xfrm>
            <a:off x="548640" y="110185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altLang="zh-CN" sz="1600" dirty="0" err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</a:t>
            </a:r>
            <a:r>
              <a:rPr lang="en-US" altLang="zh-CN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regrowth has been extensively studied in academia. </a:t>
            </a:r>
            <a:r>
              <a:rPr lang="en-US" altLang="zh-CN" sz="16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is going to follow</a:t>
            </a:r>
            <a:r>
              <a:rPr lang="en-US" altLang="zh-CN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endParaRPr lang="en-US" sz="16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8B213A5-18B5-14E8-0639-7712A0BA5D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484"/>
          <a:stretch>
            <a:fillRect/>
          </a:stretch>
        </p:blipFill>
        <p:spPr>
          <a:xfrm>
            <a:off x="5824728" y="1816462"/>
            <a:ext cx="4008315" cy="407092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61D0DEF-3952-B47C-8EBF-4CEF5B5A2214}"/>
              </a:ext>
            </a:extLst>
          </p:cNvPr>
          <p:cNvSpPr txBox="1"/>
          <p:nvPr/>
        </p:nvSpPr>
        <p:spPr>
          <a:xfrm>
            <a:off x="1219262" y="2587905"/>
            <a:ext cx="21068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Gate regrowth</a:t>
            </a: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Decouple V</a:t>
            </a:r>
            <a:r>
              <a:rPr lang="en-US" altLang="zh-CN" baseline="-25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</a:t>
            </a:r>
            <a:r>
              <a:rPr lang="en-US" altLang="zh-CN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</a:t>
            </a:r>
            <a:r>
              <a:rPr lang="en-US" altLang="zh-CN" baseline="-25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ext</a:t>
            </a:r>
            <a:endParaRPr lang="zh-CN" altLang="en-US" baseline="-25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292F4D-7EBF-5B47-DF99-FD71E6988D95}"/>
              </a:ext>
            </a:extLst>
          </p:cNvPr>
          <p:cNvSpPr txBox="1"/>
          <p:nvPr/>
        </p:nvSpPr>
        <p:spPr>
          <a:xfrm>
            <a:off x="1219262" y="3946929"/>
            <a:ext cx="371230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SINANO. 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Normally-off HEMTs With Regrown p-</a:t>
            </a:r>
            <a:r>
              <a:rPr lang="en-US" altLang="zh-CN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GaN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Gate and Low-Pressure Chemical Vapor Deposition </a:t>
            </a:r>
            <a:r>
              <a:rPr lang="en-US" altLang="zh-CN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SiNx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Passivation by Using an </a:t>
            </a:r>
            <a:r>
              <a:rPr lang="en-US" altLang="zh-CN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AlN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Pre-Layer.2019</a:t>
            </a:r>
            <a:endParaRPr lang="en-HK" altLang="zh-CN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9833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C831F-EE2F-A9B1-2B76-71FB788AC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CEB7EF8-3B0B-F5EF-7C6D-21F854C05D44}"/>
              </a:ext>
            </a:extLst>
          </p:cNvPr>
          <p:cNvSpPr/>
          <p:nvPr/>
        </p:nvSpPr>
        <p:spPr>
          <a:xfrm>
            <a:off x="1159459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152E2DD-6F61-5EA3-5D0F-DBFD06FCD726}"/>
              </a:ext>
            </a:extLst>
          </p:cNvPr>
          <p:cNvSpPr/>
          <p:nvPr/>
        </p:nvSpPr>
        <p:spPr>
          <a:xfrm>
            <a:off x="566928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MBE PLATFORM PROPOSAL · TARGET PROCESS</a:t>
            </a:r>
            <a:endParaRPr lang="en-US" sz="1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EE668F4-7C65-1C4C-7873-43927C0B82A2}"/>
              </a:ext>
            </a:extLst>
          </p:cNvPr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target process: selective-area regrowth </a:t>
            </a:r>
            <a:r>
              <a:rPr lang="en-US" altLang="zh-CN" sz="26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(SAG)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1C3F855-DE37-6054-4A99-253A67ABB162}"/>
              </a:ext>
            </a:extLst>
          </p:cNvPr>
          <p:cNvSpPr/>
          <p:nvPr/>
        </p:nvSpPr>
        <p:spPr>
          <a:xfrm>
            <a:off x="548640" y="110185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altLang="zh-CN" sz="1600" dirty="0" err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</a:t>
            </a:r>
            <a:r>
              <a:rPr lang="en-US" altLang="zh-CN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regrowth has been extensively studied in academia. </a:t>
            </a:r>
            <a:r>
              <a:rPr lang="en-US" altLang="zh-CN" sz="16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is going to follow</a:t>
            </a:r>
            <a:r>
              <a:rPr lang="en-US" altLang="zh-CN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0F307B-FD84-EC0C-5EBA-807522755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986" y="2289038"/>
            <a:ext cx="3889962" cy="30300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42F9ED-94DB-17E0-5795-CC59E8B6C724}"/>
              </a:ext>
            </a:extLst>
          </p:cNvPr>
          <p:cNvSpPr txBox="1"/>
          <p:nvPr/>
        </p:nvSpPr>
        <p:spPr>
          <a:xfrm>
            <a:off x="1177486" y="2477052"/>
            <a:ext cx="1839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Barrier regrowth</a:t>
            </a:r>
          </a:p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Etch-damage free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4B520A-66F4-3E32-191D-A2490E4F0A02}"/>
              </a:ext>
            </a:extLst>
          </p:cNvPr>
          <p:cNvSpPr txBox="1"/>
          <p:nvPr/>
        </p:nvSpPr>
        <p:spPr>
          <a:xfrm>
            <a:off x="1161067" y="4012521"/>
            <a:ext cx="371230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Jiang. </a:t>
            </a:r>
            <a:r>
              <a:rPr lang="zh-CN" altLang="zh-CN" sz="1100" dirty="0"/>
              <a:t>Enhancement-Mode GaN MOS-HEMTs With Recess-Free Barrier Engineering and High-k ZrO2 Gate Dielectric</a:t>
            </a:r>
            <a:r>
              <a:rPr lang="en-US" altLang="zh-CN" sz="1100" dirty="0"/>
              <a:t>. EDL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.2018</a:t>
            </a:r>
            <a:endParaRPr lang="en-HK" altLang="zh-CN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1235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74320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0" i="0">
                <a:solidFill>
                  <a:srgbClr val="6B6B6B"/>
                </a:solidFill>
                <a:latin typeface="Arial"/>
              </a:rPr>
              <a:t>MBE PLATFORM PROPOSAL · WHY MBE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i="0" dirty="0">
                <a:solidFill>
                  <a:srgbClr val="00B388"/>
                </a:solidFill>
                <a:latin typeface="Arial"/>
              </a:rPr>
              <a:t>Why regrowth is hard — and </a:t>
            </a:r>
            <a:r>
              <a:rPr lang="en-US" sz="2600" b="1" i="0" dirty="0">
                <a:solidFill>
                  <a:srgbClr val="00B388"/>
                </a:solidFill>
                <a:latin typeface="Arial"/>
              </a:rPr>
              <a:t>advantages of </a:t>
            </a:r>
            <a:r>
              <a:rPr sz="2600" b="1" i="0" dirty="0">
                <a:solidFill>
                  <a:srgbClr val="00B388"/>
                </a:solidFill>
                <a:latin typeface="Arial"/>
              </a:rPr>
              <a:t>MBE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94592" y="647395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A9A9A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 i="0">
                <a:solidFill>
                  <a:srgbClr val="6B6B6B"/>
                </a:solidFill>
                <a:latin typeface="Arial"/>
              </a:rPr>
              <a:t>WHY FEW LABS MASTER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4592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191919"/>
                </a:solidFill>
                <a:latin typeface="Arial"/>
              </a:rPr>
              <a:t>01  Interface contamination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20240"/>
            <a:ext cx="6492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>
                <a:solidFill>
                  <a:srgbClr val="6B6B6B"/>
                </a:solidFill>
                <a:latin typeface="Arial"/>
              </a:rPr>
              <a:t>Si and O pile up at the etched-then-regrown interface and form a parallel leakage channel — the documented bottleneck for regrown junctions (ASU 2019; Sandia 2021).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459736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 dirty="0">
                <a:solidFill>
                  <a:srgbClr val="191919"/>
                </a:solidFill>
                <a:latin typeface="Arial"/>
              </a:rPr>
              <a:t>02  Etch damage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34056"/>
            <a:ext cx="6492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 dirty="0">
                <a:solidFill>
                  <a:srgbClr val="6B6B6B"/>
                </a:solidFill>
                <a:latin typeface="Arial"/>
              </a:rPr>
              <a:t>Dry etch leaves lattice damage and roughness on the exposed surface; the regrown crystal inherits every defect — degrading breakdown and reverse leakage.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30098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 dirty="0">
                <a:solidFill>
                  <a:srgbClr val="191919"/>
                </a:solidFill>
                <a:latin typeface="Arial"/>
              </a:rPr>
              <a:t>03  Thermal budget on patterned wafers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75304"/>
            <a:ext cx="64922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50" b="0" i="0" dirty="0">
                <a:solidFill>
                  <a:srgbClr val="6B6B6B"/>
                </a:solidFill>
                <a:latin typeface="Arial"/>
              </a:rPr>
              <a:t>Regrowth happens on a half-processed device: MOCVD's ~1,000 °C in NH₃/H₂ attacks masks and surfaces, and hydrogen passivates the p-</a:t>
            </a:r>
            <a:r>
              <a:rPr sz="1050" b="0" i="0" dirty="0" err="1">
                <a:solidFill>
                  <a:srgbClr val="6B6B6B"/>
                </a:solidFill>
                <a:latin typeface="Arial"/>
              </a:rPr>
              <a:t>GaN</a:t>
            </a:r>
            <a:r>
              <a:rPr sz="1050" b="0" i="0" dirty="0">
                <a:solidFill>
                  <a:srgbClr val="6B6B6B"/>
                </a:solidFill>
                <a:latin typeface="Arial"/>
              </a:rPr>
              <a:t> it touches.</a:t>
            </a:r>
          </a:p>
        </p:txBody>
      </p:sp>
      <p:pic>
        <p:nvPicPr>
          <p:cNvPr id="12" name="Picture 11" descr="asu_regrow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256273"/>
            <a:ext cx="2148840" cy="13350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44368" y="4311137"/>
            <a:ext cx="41148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900" b="0" i="1" dirty="0">
                <a:solidFill>
                  <a:srgbClr val="9A9A9A"/>
                </a:solidFill>
                <a:latin typeface="Arial"/>
              </a:rPr>
              <a:t>Etch-then-regrow in practice: the dry-etched surface (damage) and the regrowth interface (contamination) are where devices are won or lost. Even record processes need UV-ozone + chemical + in-situ cleans to recover low leakage.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1298448"/>
            <a:ext cx="4224528" cy="37033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07808" y="1463040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 i="0">
                <a:solidFill>
                  <a:srgbClr val="6B6B6B"/>
                </a:solidFill>
                <a:latin typeface="Arial"/>
              </a:rPr>
              <a:t>WHY MBE ANSWERS ALL THREE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8" y="1810512"/>
            <a:ext cx="141732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00" b="1" i="0" dirty="0">
                <a:solidFill>
                  <a:srgbClr val="00B388"/>
                </a:solidFill>
                <a:latin typeface="Arial"/>
              </a:rPr>
              <a:t>As low as </a:t>
            </a:r>
            <a:r>
              <a:rPr sz="1300" b="1" i="0" dirty="0">
                <a:solidFill>
                  <a:srgbClr val="00B388"/>
                </a:solidFill>
                <a:latin typeface="Arial"/>
              </a:rPr>
              <a:t>700°C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1810512"/>
            <a:ext cx="2395728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 dirty="0">
                <a:solidFill>
                  <a:srgbClr val="6B6B6B"/>
                </a:solidFill>
                <a:latin typeface="Arial"/>
              </a:rPr>
              <a:t>growth window, 200–300 °C below MOCVD — patterned surfaces, masks and existing junctions stay intact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2615184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 i="0">
                <a:solidFill>
                  <a:srgbClr val="00B388"/>
                </a:solidFill>
                <a:latin typeface="Arial"/>
              </a:rPr>
              <a:t>H-free UHV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615184"/>
            <a:ext cx="2395728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>
                <a:solidFill>
                  <a:srgbClr val="6B6B6B"/>
                </a:solidFill>
                <a:latin typeface="Arial"/>
              </a:rPr>
              <a:t>no NH₃/H₂: p-GaN is active as grown, and the regrowth interface stays clean at 10⁻¹¹ mbar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3419856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 i="0" dirty="0">
                <a:solidFill>
                  <a:srgbClr val="00B388"/>
                </a:solidFill>
                <a:latin typeface="Arial"/>
              </a:rPr>
              <a:t>In-vacuo clean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3419856"/>
            <a:ext cx="2395728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 dirty="0">
                <a:solidFill>
                  <a:srgbClr val="6B6B6B"/>
                </a:solidFill>
                <a:latin typeface="Arial"/>
              </a:rPr>
              <a:t>pre-regrowth anneal + interface preparation without air break — directly attacks the Si/O 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4224528"/>
            <a:ext cx="14173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00" b="1" i="0">
                <a:solidFill>
                  <a:srgbClr val="00B388"/>
                </a:solidFill>
                <a:latin typeface="Arial"/>
              </a:rPr>
              <a:t>RHEED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4224528"/>
            <a:ext cx="2395728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0">
                <a:solidFill>
                  <a:srgbClr val="6B6B6B"/>
                </a:solidFill>
                <a:latin typeface="Arial"/>
              </a:rPr>
              <a:t>monolayer-abrupt n⁺ regions, monitored live on patterned wafers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192" y="5701025"/>
            <a:ext cx="66751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0" i="0">
                <a:solidFill>
                  <a:srgbClr val="9A9A9A"/>
                </a:solidFill>
                <a:latin typeface="Arial"/>
              </a:rPr>
              <a:t>Sources: ASU 2019 (etch-then-regrow p-n) · Sandia 2021 (interfacial Si) · NIST 2024 (regrowth-interface contaminants)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59459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MBE PLATFORM PROPOSAL · STRATEGIC CONTEXT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control has turned MBE from a purchase into a capability gap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10789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35508" y="1778508"/>
            <a:ext cx="100584" cy="100584"/>
          </a:xfrm>
          <a:prstGeom prst="ellipse">
            <a:avLst/>
          </a:prstGeom>
          <a:solidFill>
            <a:srgbClr val="00B3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1979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2395728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CoCom embargo — CAS institutes answer with the first domestic MBE; National S&amp;T Progress Award, 1985.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96996" y="1778508"/>
            <a:ext cx="100584" cy="100584"/>
          </a:xfrm>
          <a:prstGeom prst="ellipse">
            <a:avLst/>
          </a:prstGeom>
          <a:solidFill>
            <a:srgbClr val="00B3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447288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1990s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47288" y="2395728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 lifted — the market is ceded to imports and the domestic UHV component chain stagnates.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58484" y="1778508"/>
            <a:ext cx="100584" cy="100584"/>
          </a:xfrm>
          <a:prstGeom prst="ellipse">
            <a:avLst/>
          </a:prstGeom>
          <a:solidFill>
            <a:srgbClr val="00B3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208776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08776" y="2395728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Wassenaar re-ban — solid- and gas-source MBE systems and key components controlled for China.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19972" y="1778508"/>
            <a:ext cx="100584" cy="100584"/>
          </a:xfrm>
          <a:prstGeom prst="ellipse">
            <a:avLst/>
          </a:prstGeom>
          <a:solidFill>
            <a:srgbClr val="00B3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970264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970264" y="2395728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reaches orders — RIBER discloses two licence rejections, ~€4M of orders lost.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3794760"/>
            <a:ext cx="6949440" cy="2514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14400" y="40050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THIS PLATFORM CLOSES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14400" y="43891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14400" y="49377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global MBE market held by VEECO + RIBER — both licence-gated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00400" y="43891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200400" y="49377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production-validated MBE tools above 4 inches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0" y="43891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8″+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486400" y="49377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wafer sizes where AI optics, GaN RF/power and MicroLED demand sits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14400" y="587044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embargo in history has opened a substitution window — this one is open now.</a:t>
            </a:r>
            <a:endParaRPr lang="en-US" sz="1050" dirty="0"/>
          </a:p>
        </p:txBody>
      </p:sp>
      <p:pic>
        <p:nvPicPr>
          <p:cNvPr id="28" name="Image 0" descr="assets/multiwaf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01000" y="3794760"/>
            <a:ext cx="3566160" cy="25146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001000" y="63825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Multi-wafer nitride MBE processing (Mota reference line)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85800" y="651052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Mota feasibility report (2022 vendor shares); RIBER 2025 interim disclosures; Wassenaar Arrangement 2019 listing.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59459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MBE PLATFORM PROPOSAL · EXECUTIVE SUMMARY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6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build — the growth engine first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49808" y="173158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Strategic necessity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1987612"/>
            <a:ext cx="42293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MBE has sat under Wassenaar export control since 2019; licence denials are now commercial reality. An 8-inch production tool can no longer simply be bought.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284714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Phase 1 scope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3103180"/>
            <a:ext cx="4289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two chambers that create epitaxial quality — the 8″ MBE growth module (HK$19M) and the in-vacuum anneal module (HK$3.5M) — cluster-ready by design.</a:t>
            </a:r>
            <a:endParaRPr lang="en-US" sz="11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99FF20A-644A-A74B-D232-1E459E814A19}"/>
              </a:ext>
            </a:extLst>
          </p:cNvPr>
          <p:cNvGrpSpPr/>
          <p:nvPr/>
        </p:nvGrpSpPr>
        <p:grpSpPr>
          <a:xfrm>
            <a:off x="749808" y="4179670"/>
            <a:ext cx="4041648" cy="1618488"/>
            <a:chOff x="7589520" y="2441448"/>
            <a:chExt cx="4041648" cy="1618488"/>
          </a:xfrm>
        </p:grpSpPr>
        <p:sp>
          <p:nvSpPr>
            <p:cNvPr id="15" name="Shape 13"/>
            <p:cNvSpPr/>
            <p:nvPr/>
          </p:nvSpPr>
          <p:spPr>
            <a:xfrm>
              <a:off x="7589520" y="2441448"/>
              <a:ext cx="4041648" cy="1618487"/>
            </a:xfrm>
            <a:prstGeom prst="rect">
              <a:avLst/>
            </a:prstGeom>
            <a:solidFill>
              <a:srgbClr val="F5F5F5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7818120" y="2825496"/>
              <a:ext cx="315956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zh-CN" sz="2400" b="1" dirty="0">
                  <a:solidFill>
                    <a:srgbClr val="00B38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8″ MBE + High-temp anneal in 24 months</a:t>
              </a:r>
              <a:endParaRPr lang="en-US" sz="24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7818120" y="3374136"/>
              <a:ext cx="192024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950" dirty="0">
                  <a:solidFill>
                    <a:srgbClr val="6B6B6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wafer size — beyond any domestic MBE in operation</a:t>
              </a:r>
              <a:endParaRPr lang="en-US" sz="950" dirty="0"/>
            </a:p>
          </p:txBody>
        </p:sp>
      </p:grpSp>
      <p:sp>
        <p:nvSpPr>
          <p:cNvPr id="28" name="Text 4">
            <a:extLst>
              <a:ext uri="{FF2B5EF4-FFF2-40B4-BE49-F238E27FC236}">
                <a16:creationId xmlns:a16="http://schemas.microsoft.com/office/drawing/2014/main" id="{4C1241F9-4684-DD3C-E83F-5E5526ADEB53}"/>
              </a:ext>
            </a:extLst>
          </p:cNvPr>
          <p:cNvSpPr/>
          <p:nvPr/>
        </p:nvSpPr>
        <p:spPr>
          <a:xfrm>
            <a:off x="5696317" y="6076188"/>
            <a:ext cx="59165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Radial cluster architecture: growth, anneal and analysis modules attach to one UHV distribution hub — wafers move at 5×10⁻¹⁰ mbar, never seeing air.</a:t>
            </a:r>
            <a:endParaRPr lang="en-US" sz="95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62C6E79-02F5-4566-E064-01917D4C28ED}"/>
              </a:ext>
            </a:extLst>
          </p:cNvPr>
          <p:cNvGrpSpPr/>
          <p:nvPr/>
        </p:nvGrpSpPr>
        <p:grpSpPr>
          <a:xfrm>
            <a:off x="5696317" y="1329158"/>
            <a:ext cx="6267658" cy="4912916"/>
            <a:chOff x="5683922" y="1163272"/>
            <a:chExt cx="6267658" cy="4912916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257B8145-8BD0-3DA2-BE04-1C7E26F8A8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83922" y="1163272"/>
              <a:ext cx="6021988" cy="4912916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F45F3AC-DB99-2886-1A7A-31324BC98FF1}"/>
                </a:ext>
              </a:extLst>
            </p:cNvPr>
            <p:cNvSpPr txBox="1"/>
            <p:nvPr/>
          </p:nvSpPr>
          <p:spPr>
            <a:xfrm>
              <a:off x="10213475" y="1195845"/>
              <a:ext cx="173810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PVD module </a:t>
              </a:r>
            </a:p>
            <a:p>
              <a:r>
                <a:rPr lang="en-US" altLang="zh-CN" sz="1400" dirty="0"/>
                <a:t>(potential expansion)</a:t>
              </a:r>
              <a:endParaRPr lang="zh-CN" altLang="en-US" sz="14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6F39788-3A2B-B77D-DBC4-D600717517BA}"/>
                </a:ext>
              </a:extLst>
            </p:cNvPr>
            <p:cNvSpPr txBox="1"/>
            <p:nvPr/>
          </p:nvSpPr>
          <p:spPr>
            <a:xfrm>
              <a:off x="6053556" y="4233100"/>
              <a:ext cx="15231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High temperature </a:t>
              </a:r>
            </a:p>
            <a:p>
              <a:r>
                <a:rPr lang="en-US" altLang="zh-CN" sz="1400" dirty="0"/>
                <a:t>anneal module</a:t>
              </a:r>
              <a:endParaRPr lang="zh-CN" altLang="en-US" sz="14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FF483-A1CF-8E5B-90F2-B40DCA912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55240E2-CD5B-CD23-2868-0B9D5A068575}"/>
              </a:ext>
            </a:extLst>
          </p:cNvPr>
          <p:cNvSpPr/>
          <p:nvPr/>
        </p:nvSpPr>
        <p:spPr>
          <a:xfrm>
            <a:off x="1159459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028F691-C2D6-CE23-73AD-2D23A023F53A}"/>
              </a:ext>
            </a:extLst>
          </p:cNvPr>
          <p:cNvSpPr/>
          <p:nvPr/>
        </p:nvSpPr>
        <p:spPr>
          <a:xfrm>
            <a:off x="566928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MBE PLATFORM PROPOSAL · EXECUTIVE SUMMARY</a:t>
            </a:r>
            <a:endParaRPr lang="en-US" sz="1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A30FDA9-9B69-580B-DE91-527215148BA6}"/>
              </a:ext>
            </a:extLst>
          </p:cNvPr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we build</a:t>
            </a:r>
            <a:endParaRPr lang="en-US" sz="2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713A64A-E6A5-072E-0DC7-1DA55A57C1B6}"/>
              </a:ext>
            </a:extLst>
          </p:cNvPr>
          <p:cNvSpPr/>
          <p:nvPr/>
        </p:nvSpPr>
        <p:spPr>
          <a:xfrm>
            <a:off x="566928" y="112471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Proven blueprint, complementary partners</a:t>
            </a:r>
            <a:endParaRPr lang="en-US" sz="12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3774B4-DDE0-F0E5-E84E-C39BE1EAE7CA}"/>
              </a:ext>
            </a:extLst>
          </p:cNvPr>
          <p:cNvSpPr txBox="1"/>
          <p:nvPr/>
        </p:nvSpPr>
        <p:spPr>
          <a:xfrm>
            <a:off x="484718" y="1887974"/>
            <a:ext cx="6094562" cy="1160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based on their 4’’ self-built system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nitride process heritage</a:t>
            </a:r>
            <a:endParaRPr lang="zh-CN" altLang="en-US" sz="2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EB30F5-63CE-6E6C-7CE6-15FAF708665D}"/>
              </a:ext>
            </a:extLst>
          </p:cNvPr>
          <p:cNvSpPr txBox="1"/>
          <p:nvPr/>
        </p:nvSpPr>
        <p:spPr>
          <a:xfrm>
            <a:off x="566928" y="1468754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Mota, Inc. (Jiangsu)</a:t>
            </a:r>
            <a:endParaRPr lang="zh-CN" altLang="en-US" sz="2400" dirty="0">
              <a:solidFill>
                <a:srgbClr val="6B6B6B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76DC0E-4D3F-CF8E-036E-0ECF0D811A65}"/>
              </a:ext>
            </a:extLst>
          </p:cNvPr>
          <p:cNvSpPr txBox="1"/>
          <p:nvPr/>
        </p:nvSpPr>
        <p:spPr>
          <a:xfrm>
            <a:off x="5742518" y="1485738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MRDI</a:t>
            </a:r>
            <a:endParaRPr lang="zh-CN" altLang="en-US" sz="2400" dirty="0">
              <a:solidFill>
                <a:srgbClr val="6B6B6B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075E68-3EE9-04CA-7821-F6BE5850BE5E}"/>
              </a:ext>
            </a:extLst>
          </p:cNvPr>
          <p:cNvSpPr txBox="1"/>
          <p:nvPr/>
        </p:nvSpPr>
        <p:spPr>
          <a:xfrm>
            <a:off x="5660308" y="1851392"/>
            <a:ext cx="6094562" cy="1160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8’’ System Integration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line process validation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nitride process heritage</a:t>
            </a:r>
            <a:endParaRPr lang="zh-CN" altLang="en-US" sz="2800" dirty="0"/>
          </a:p>
        </p:txBody>
      </p:sp>
      <p:graphicFrame>
        <p:nvGraphicFramePr>
          <p:cNvPr id="77" name="Table 76">
            <a:extLst>
              <a:ext uri="{FF2B5EF4-FFF2-40B4-BE49-F238E27FC236}">
                <a16:creationId xmlns:a16="http://schemas.microsoft.com/office/drawing/2014/main" id="{C41DC99D-9517-7DD1-0326-4A8914BD1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857276"/>
              </p:ext>
            </p:extLst>
          </p:nvPr>
        </p:nvGraphicFramePr>
        <p:xfrm>
          <a:off x="566928" y="3139736"/>
          <a:ext cx="6720840" cy="3320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034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191919"/>
                          </a:solidFill>
                          <a:latin typeface="Arial"/>
                        </a:rPr>
                        <a:t>Chamber set</a:t>
                      </a:r>
                    </a:p>
                  </a:txBody>
                  <a:tcPr marL="164592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B6B6B"/>
                          </a:solidFill>
                          <a:latin typeface="Arial"/>
                        </a:rPr>
                        <a:t>Growth + buffer + load-lock · LN₂ shrouds · cluster frame</a:t>
                      </a:r>
                    </a:p>
                  </a:txBody>
                  <a:tcPr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034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191919"/>
                          </a:solidFill>
                          <a:latin typeface="Arial"/>
                        </a:rPr>
                        <a:t>Nitrogen source</a:t>
                      </a:r>
                    </a:p>
                  </a:txBody>
                  <a:tcPr marL="164592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dirty="0">
                          <a:solidFill>
                            <a:srgbClr val="6B6B6B"/>
                          </a:solidFill>
                          <a:latin typeface="Arial"/>
                        </a:rPr>
                        <a:t>RF plasma, 600 W @ 13.56 MHz · all-ceramic discharge · ion-free flux</a:t>
                      </a:r>
                    </a:p>
                  </a:txBody>
                  <a:tcPr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034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191919"/>
                          </a:solidFill>
                          <a:latin typeface="Arial"/>
                        </a:rPr>
                        <a:t>Substrate heater</a:t>
                      </a:r>
                    </a:p>
                  </a:txBody>
                  <a:tcPr marL="164592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B6B6B"/>
                          </a:solidFill>
                          <a:latin typeface="Arial"/>
                        </a:rPr>
                        <a:t>Solid SiC, 1,200 °C in reactive gas — regrowth-grade</a:t>
                      </a:r>
                    </a:p>
                  </a:txBody>
                  <a:tcPr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03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91919"/>
                          </a:solidFill>
                          <a:latin typeface="Arial"/>
                        </a:rPr>
                        <a:t>Effusion cells</a:t>
                      </a:r>
                    </a:p>
                  </a:txBody>
                  <a:tcPr marL="164592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B6B6B"/>
                          </a:solidFill>
                          <a:latin typeface="Arial"/>
                        </a:rPr>
                        <a:t>10 sources: 3×Ga, 3×Al, Si, Mg + spares · PBN crucibles · PID loops</a:t>
                      </a:r>
                    </a:p>
                  </a:txBody>
                  <a:tcPr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03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91919"/>
                          </a:solidFill>
                          <a:latin typeface="Arial"/>
                        </a:rPr>
                        <a:t>Pumping</a:t>
                      </a:r>
                    </a:p>
                  </a:txBody>
                  <a:tcPr marL="164592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B6B6B"/>
                          </a:solidFill>
                          <a:latin typeface="Arial"/>
                        </a:rPr>
                        <a:t>Maglev turbo ≥2,000 L/s · cryopumps · ion pump + Ti sublimation</a:t>
                      </a:r>
                    </a:p>
                  </a:txBody>
                  <a:tcPr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03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91919"/>
                          </a:solidFill>
                          <a:latin typeface="Arial"/>
                        </a:rPr>
                        <a:t>In-situ diagnostics</a:t>
                      </a:r>
                    </a:p>
                  </a:txBody>
                  <a:tcPr marL="164592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B6B6B"/>
                          </a:solidFill>
                          <a:latin typeface="Arial"/>
                        </a:rPr>
                        <a:t>30 keV RHEED · band-edge pyrometer · beam-flux monitor · RGA</a:t>
                      </a:r>
                    </a:p>
                  </a:txBody>
                  <a:tcPr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03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91919"/>
                          </a:solidFill>
                          <a:latin typeface="Arial"/>
                        </a:rPr>
                        <a:t>Wafer handling</a:t>
                      </a:r>
                    </a:p>
                  </a:txBody>
                  <a:tcPr marL="164592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B6B6B"/>
                          </a:solidFill>
                          <a:latin typeface="Arial"/>
                        </a:rPr>
                        <a:t>UHV robot + platens to 12″ · heated viewports · cassette load-lock</a:t>
                      </a:r>
                    </a:p>
                  </a:txBody>
                  <a:tcPr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03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91919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marL="164592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dirty="0">
                          <a:solidFill>
                            <a:srgbClr val="6B6B6B"/>
                          </a:solidFill>
                          <a:latin typeface="Arial"/>
                        </a:rPr>
                        <a:t>Open software stack · interlocks + logging · AI-ready (Level-5 roadmap)</a:t>
                      </a:r>
                    </a:p>
                  </a:txBody>
                  <a:tcPr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9" name="Image 0" descr="assets/uhv_chamber.jpg">
            <a:extLst>
              <a:ext uri="{FF2B5EF4-FFF2-40B4-BE49-F238E27FC236}">
                <a16:creationId xmlns:a16="http://schemas.microsoft.com/office/drawing/2014/main" id="{1B7C5BDD-051E-F9EE-6E62-C0AEBAF293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44828" y="3077024"/>
            <a:ext cx="1331468" cy="1331468"/>
          </a:xfrm>
          <a:prstGeom prst="rect">
            <a:avLst/>
          </a:prstGeom>
        </p:spPr>
      </p:pic>
      <p:sp>
        <p:nvSpPr>
          <p:cNvPr id="81" name="Text 28">
            <a:extLst>
              <a:ext uri="{FF2B5EF4-FFF2-40B4-BE49-F238E27FC236}">
                <a16:creationId xmlns:a16="http://schemas.microsoft.com/office/drawing/2014/main" id="{DC3C851C-CA0E-DFBD-1DD8-5B36CB14A77E}"/>
              </a:ext>
            </a:extLst>
          </p:cNvPr>
          <p:cNvSpPr/>
          <p:nvPr/>
        </p:nvSpPr>
        <p:spPr>
          <a:xfrm>
            <a:off x="8144828" y="4513486"/>
            <a:ext cx="1331468" cy="132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UHV growth chamber</a:t>
            </a:r>
            <a:endParaRPr lang="en-US" sz="850" dirty="0"/>
          </a:p>
        </p:txBody>
      </p:sp>
      <p:sp>
        <p:nvSpPr>
          <p:cNvPr id="83" name="Text 29">
            <a:extLst>
              <a:ext uri="{FF2B5EF4-FFF2-40B4-BE49-F238E27FC236}">
                <a16:creationId xmlns:a16="http://schemas.microsoft.com/office/drawing/2014/main" id="{B9F8993E-08DE-B109-4C12-9C6E516F0BB6}"/>
              </a:ext>
            </a:extLst>
          </p:cNvPr>
          <p:cNvSpPr/>
          <p:nvPr/>
        </p:nvSpPr>
        <p:spPr>
          <a:xfrm>
            <a:off x="9681274" y="4503714"/>
            <a:ext cx="1331468" cy="132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plasma source</a:t>
            </a:r>
            <a:endParaRPr lang="en-US" sz="850" dirty="0"/>
          </a:p>
        </p:txBody>
      </p:sp>
      <p:sp>
        <p:nvSpPr>
          <p:cNvPr id="85" name="Text 30">
            <a:extLst>
              <a:ext uri="{FF2B5EF4-FFF2-40B4-BE49-F238E27FC236}">
                <a16:creationId xmlns:a16="http://schemas.microsoft.com/office/drawing/2014/main" id="{CA6E6C9C-4F3D-85A1-9B33-7AFBC48FBB20}"/>
              </a:ext>
            </a:extLst>
          </p:cNvPr>
          <p:cNvSpPr/>
          <p:nvPr/>
        </p:nvSpPr>
        <p:spPr>
          <a:xfrm>
            <a:off x="8274963" y="6021497"/>
            <a:ext cx="1331468" cy="132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keV RHEED gun</a:t>
            </a:r>
            <a:endParaRPr lang="en-US" sz="850" dirty="0"/>
          </a:p>
        </p:txBody>
      </p:sp>
      <p:pic>
        <p:nvPicPr>
          <p:cNvPr id="87" name="Image 3" descr="assets/wafer_robot.png">
            <a:extLst>
              <a:ext uri="{FF2B5EF4-FFF2-40B4-BE49-F238E27FC236}">
                <a16:creationId xmlns:a16="http://schemas.microsoft.com/office/drawing/2014/main" id="{0163AA12-F925-0ECF-1020-37B6256881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895229" y="4737533"/>
            <a:ext cx="1331468" cy="1331468"/>
          </a:xfrm>
          <a:prstGeom prst="rect">
            <a:avLst/>
          </a:prstGeom>
        </p:spPr>
      </p:pic>
      <p:sp>
        <p:nvSpPr>
          <p:cNvPr id="89" name="Text 31">
            <a:extLst>
              <a:ext uri="{FF2B5EF4-FFF2-40B4-BE49-F238E27FC236}">
                <a16:creationId xmlns:a16="http://schemas.microsoft.com/office/drawing/2014/main" id="{F88FCA04-4270-E8FF-274A-8DDA16597090}"/>
              </a:ext>
            </a:extLst>
          </p:cNvPr>
          <p:cNvSpPr/>
          <p:nvPr/>
        </p:nvSpPr>
        <p:spPr>
          <a:xfrm>
            <a:off x="9895229" y="6173995"/>
            <a:ext cx="1331468" cy="132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Wafer transfer robot</a:t>
            </a:r>
            <a:endParaRPr lang="en-US" sz="850" dirty="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729CCEDC-F76A-1475-5FBF-3EFB320DAE1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928" t="6565" r="23611" b="6565"/>
          <a:stretch>
            <a:fillRect/>
          </a:stretch>
        </p:blipFill>
        <p:spPr>
          <a:xfrm>
            <a:off x="9740376" y="2961452"/>
            <a:ext cx="1238838" cy="1259860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629DB52A-9E6B-62A2-BCBB-05BF61B5D5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8792" y="5042870"/>
            <a:ext cx="1287504" cy="73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452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>
          <a:xfrm>
            <a:off x="6236208" y="3749039"/>
            <a:ext cx="5394960" cy="26060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66928" y="3749039"/>
            <a:ext cx="5394960" cy="26060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 1"/>
          <p:cNvSpPr/>
          <p:nvPr/>
        </p:nvSpPr>
        <p:spPr>
          <a:xfrm>
            <a:off x="1159459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MBE PLATFORM PROPOSAL · SUPPLY CHAIN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6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supply chain considerations</a:t>
            </a:r>
            <a:endParaRPr lang="en-US" sz="2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EC2BDD-E157-4162-0604-B14E51DF1B2C}"/>
              </a:ext>
            </a:extLst>
          </p:cNvPr>
          <p:cNvSpPr txBox="1"/>
          <p:nvPr/>
        </p:nvSpPr>
        <p:spPr>
          <a:xfrm>
            <a:off x="566928" y="1417320"/>
            <a:ext cx="10405872" cy="119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1600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Low risk of export restriction on buying parts vs buying a full MBE system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1600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Almost all components can find domestic replacement. (key gap is reliability)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1600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The project team can do parts customization, if needed.</a:t>
            </a:r>
          </a:p>
        </p:txBody>
      </p:sp>
      <p:pic>
        <p:nvPicPr>
          <p:cNvPr id="39" name="图片 1" descr="男人戴着眼镜&#10;&#10;描述已自动生成">
            <a:extLst>
              <a:ext uri="{FF2B5EF4-FFF2-40B4-BE49-F238E27FC236}">
                <a16:creationId xmlns:a16="http://schemas.microsoft.com/office/drawing/2014/main" id="{8C9CB594-1C18-651F-C1C1-34556264A3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520" y="3959352"/>
            <a:ext cx="1298448" cy="1627632"/>
          </a:xfrm>
          <a:prstGeom prst="rect">
            <a:avLst/>
          </a:prstGeom>
        </p:spPr>
      </p:pic>
      <p:pic>
        <p:nvPicPr>
          <p:cNvPr id="46" name="Picture 45" descr="A person wearing glasses and a blue shirt&#10;&#10;AI-generated content may be incorrect.">
            <a:extLst>
              <a:ext uri="{FF2B5EF4-FFF2-40B4-BE49-F238E27FC236}">
                <a16:creationId xmlns:a16="http://schemas.microsoft.com/office/drawing/2014/main" id="{82A4EE08-C7F0-1071-C603-B78467C219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" y="3959352"/>
            <a:ext cx="1536192" cy="215798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66928" y="3401568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0">
                <a:solidFill>
                  <a:srgbClr val="6B6B6B"/>
                </a:solidFill>
                <a:latin typeface="Arial"/>
              </a:rPr>
              <a:t>THE TEAM BEHIND PARTS CUSTOMIZATION AND VALIDATION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14600" y="395935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191919"/>
                </a:solidFill>
                <a:latin typeface="Arial"/>
              </a:rPr>
              <a:t>Zhigang Wang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14600" y="425196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00" b="1">
                <a:solidFill>
                  <a:srgbClr val="00B388"/>
                </a:solidFill>
                <a:latin typeface="Arial"/>
              </a:rPr>
              <a:t>Head of Etch, Thin Film &amp; Equipment Empowerment (EET), MRDI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14600" y="4709160"/>
            <a:ext cx="32918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00" b="0">
                <a:solidFill>
                  <a:srgbClr val="6B6B6B"/>
                </a:solidFill>
                <a:latin typeface="Arial"/>
              </a:rPr>
              <a:t>20 years in semiconductor equipment — 18 at Applied Materials, from 300 mm silicon process R&amp;D (Santa Clara) to directing the Xi'an Demo Lab and leading the 200/300 mm etch engineering teams; Etch BD Lead at NAURA (2024–25).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36992" y="395935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191919"/>
                </a:solidFill>
                <a:latin typeface="Arial"/>
              </a:rPr>
              <a:t>Dr. Zhuofei Gan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425196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900" b="1">
                <a:solidFill>
                  <a:srgbClr val="00B388"/>
                </a:solidFill>
                <a:latin typeface="Arial"/>
              </a:rPr>
              <a:t>R&amp;D Lead Engineer, Equipment-Enabling Projects, MRDI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36992" y="4709160"/>
            <a:ext cx="35204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900" b="0">
                <a:solidFill>
                  <a:srgbClr val="6B6B6B"/>
                </a:solidFill>
                <a:latin typeface="Arial"/>
              </a:rPr>
              <a:t>Ph.D. (HKU); co-founder of InterLitho Technology; ~20 high-impact publications. Hands-on expertise in advanced lithography, precision bonding and 2.5D/3D packaging equipment — now leading co-development of next-generation equipment at MRDI.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59459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MBE PLATFORM PROPOSAL · SUPPLY CHAIN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the best today — qualify domestic parts on the same tool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11045952" cy="457200"/>
          </a:xfrm>
          <a:prstGeom prst="rect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04088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CATEGORY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60520" y="1463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SOURCE (GLOBAL)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0100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CANDIDATE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920240"/>
            <a:ext cx="11045952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04088" y="19202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plasma / RF power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60520" y="19202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VEECO · OAR · AE / COMET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01000" y="192024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Hengyunchang 恒运昌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4088" y="24871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Turbomolecular pumps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60520" y="248716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Edwards · Leybold · ULVAC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01000" y="248716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 中科科仪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054096"/>
            <a:ext cx="11045952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04088" y="305409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flow controllers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60520" y="305409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MKS · Bronkhorst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01000" y="305409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Sevenstar 七星华创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4088" y="362102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UHV valves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60520" y="362102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VAT · HVA · VACGEN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01000" y="362102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Kinglai / Jingsheng / Jiutian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4187952"/>
            <a:ext cx="11045952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04088" y="418795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Gauges &amp; RGA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60520" y="418795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INFICON · MKS · Hiden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01000" y="418795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Hexin 禾信仪器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" y="47548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High-purity materials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60520" y="47548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UMC · DOWA · Plansee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01000" y="475488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 / GRINM 先导 / 有研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" y="55778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85800" y="6126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UHV component categories tracked in Mota's supplier programme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83280" y="55778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≥6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3383280" y="6126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 benchmarked on-tool during Phase 1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17920" y="562356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baselines guarantee schedule; domestic parts are validated in parallel — never on the critical path. The tool itself becomes the qualification vehicle for the domestic UHV supply chain.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A8FC5-6C43-1D84-FFC5-393B95BD5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77A4266-5B1D-ADE2-7DD2-DB5D10253F9B}"/>
              </a:ext>
            </a:extLst>
          </p:cNvPr>
          <p:cNvSpPr/>
          <p:nvPr/>
        </p:nvSpPr>
        <p:spPr>
          <a:xfrm>
            <a:off x="1159459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00CB9AE-6FE3-BB2E-853E-E26E44739B75}"/>
              </a:ext>
            </a:extLst>
          </p:cNvPr>
          <p:cNvSpPr/>
          <p:nvPr/>
        </p:nvSpPr>
        <p:spPr>
          <a:xfrm>
            <a:off x="566928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MBE PLATFORM PROPOSAL · EXECUTIVE SUMMARY</a:t>
            </a:r>
            <a:endParaRPr lang="en-US" sz="1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7255061-B9E7-E901-F64A-3896C873153E}"/>
              </a:ext>
            </a:extLst>
          </p:cNvPr>
          <p:cNvSpPr/>
          <p:nvPr/>
        </p:nvSpPr>
        <p:spPr>
          <a:xfrm>
            <a:off x="548640" y="530352"/>
            <a:ext cx="11064240" cy="1184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6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innovations that make the system succeed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9CE50D-22F3-3BCF-137A-6036F06A13F5}"/>
              </a:ext>
            </a:extLst>
          </p:cNvPr>
          <p:cNvSpPr txBox="1"/>
          <p:nvPr/>
        </p:nvSpPr>
        <p:spPr>
          <a:xfrm>
            <a:off x="793242" y="1714500"/>
            <a:ext cx="10062972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en-US" altLang="zh-CN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Multi-zone heat balancing with real-time closed-loop control during growth – enabler for 8″ production tool vs small diameter tools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PVD + MBE cluster tool integration — low cost, high throughput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dirty="0">
                <a:solidFill>
                  <a:srgbClr val="6B6B6B"/>
                </a:solidFill>
                <a:latin typeface="Arial" pitchFamily="34" charset="0"/>
                <a:cs typeface="Arial" pitchFamily="34" charset="-120"/>
              </a:rPr>
              <a:t>Enhanced plasma source for high-throughput Ga(Al)N growth</a:t>
            </a:r>
            <a:endParaRPr lang="zh-CN" altLang="en-US" dirty="0">
              <a:solidFill>
                <a:srgbClr val="6B6B6B"/>
              </a:solidFill>
              <a:latin typeface="Arial" pitchFamily="34" charset="0"/>
              <a:cs typeface="Arial" pitchFamily="34" charset="-120"/>
            </a:endParaRPr>
          </a:p>
        </p:txBody>
      </p:sp>
      <p:pic>
        <p:nvPicPr>
          <p:cNvPr id="6" name="Image 0" descr="assets/chamber_color.png">
            <a:extLst>
              <a:ext uri="{FF2B5EF4-FFF2-40B4-BE49-F238E27FC236}">
                <a16:creationId xmlns:a16="http://schemas.microsoft.com/office/drawing/2014/main" id="{3B7226DA-F157-3BA1-B1EB-8638D67ED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068" y="3604056"/>
            <a:ext cx="2643824" cy="2577728"/>
          </a:xfrm>
          <a:prstGeom prst="rect">
            <a:avLst/>
          </a:prstGeom>
        </p:spPr>
      </p:pic>
      <p:pic>
        <p:nvPicPr>
          <p:cNvPr id="8" name="Image 1" descr="assets/plasma_glow.png">
            <a:extLst>
              <a:ext uri="{FF2B5EF4-FFF2-40B4-BE49-F238E27FC236}">
                <a16:creationId xmlns:a16="http://schemas.microsoft.com/office/drawing/2014/main" id="{458CA6E8-2880-5938-03F6-B75585C04A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82" r="13382"/>
          <a:stretch>
            <a:fillRect/>
          </a:stretch>
        </p:blipFill>
        <p:spPr>
          <a:xfrm>
            <a:off x="6763109" y="3895784"/>
            <a:ext cx="2643824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829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59459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MBE PLATFORM PROPOSAL · WORK PLAN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months, four phases, stage-gated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828800"/>
            <a:ext cx="2670048" cy="603504"/>
          </a:xfrm>
          <a:prstGeom prst="rect">
            <a:avLst/>
          </a:prstGeom>
          <a:solidFill>
            <a:srgbClr val="3CDB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68096" y="1828800"/>
            <a:ext cx="2487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Design &amp; procure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M0–M6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6656" y="2560320"/>
            <a:ext cx="2596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freeze · long-lead orders (chamber, pumps, sources, robotics) · MRDI site prep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4114800"/>
            <a:ext cx="2670048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68096" y="4114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  Design review passed; 100% long-lead on order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56432" y="1828800"/>
            <a:ext cx="2670048" cy="603504"/>
          </a:xfrm>
          <a:prstGeom prst="rect">
            <a:avLst/>
          </a:prstGeom>
          <a:solidFill>
            <a:srgbClr val="00B3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566160" y="1828800"/>
            <a:ext cx="2487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Assemble &amp; test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M6–M12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560320"/>
            <a:ext cx="2596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assembly in Mota's Jiangsu class-10k cleanroom · leak-check, bake-out, pump-down · domestic bench tests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56432" y="4114800"/>
            <a:ext cx="2670048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566160" y="4114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  Factory acceptance; ship to Hong Kong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54496" y="1828800"/>
            <a:ext cx="2670048" cy="603504"/>
          </a:xfrm>
          <a:prstGeom prst="rect">
            <a:avLst/>
          </a:prstGeom>
          <a:solidFill>
            <a:srgbClr val="008F6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364224" y="1828800"/>
            <a:ext cx="2487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Install &amp; first epi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M12–M18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72784" y="2560320"/>
            <a:ext cx="2596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and UHV integration at MRDI · commissioning + interlocks · first plasma → first GaN epitaxy on 8″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54496" y="4114800"/>
            <a:ext cx="2670048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364224" y="4114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  Site acceptance; first epitaxy reviewed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052560" y="1828800"/>
            <a:ext cx="2670048" cy="603504"/>
          </a:xfrm>
          <a:prstGeom prst="rect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162288" y="1828800"/>
            <a:ext cx="2487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Process &amp; regrowth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M18–M24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70848" y="2560320"/>
            <a:ext cx="2596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Device-grade MQW (M22) · selective-area regrowth flow · anneal-module DOE · user demos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052560" y="4114800"/>
            <a:ext cx="2670048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162288" y="41148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  Final review; platform enters shared service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" y="54864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M18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85800" y="6035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</a:t>
            </a:r>
            <a:r>
              <a:rPr lang="en-US" sz="950" dirty="0" err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</a:t>
            </a: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regrowth epitaxy on 8″ wafers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926080" y="5486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M22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2926080" y="6035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device-grade MQW, XRD / PL verified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35040" y="557784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steering-committee gates · budget released per phase (40 / 25 / 20 / 15%) contingent on gate approval · monthly Jiangsu–Hong Kong technical sync.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FB476-331F-6A12-ED54-BE5314B9B16F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548640" y="530352"/>
            <a:ext cx="11064240" cy="5669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indent="0" defTabSz="685800">
              <a:spcBef>
                <a:spcPts val="0"/>
              </a:spcBef>
              <a:buNone/>
            </a:pPr>
            <a:r>
              <a:rPr sz="2600" b="1">
                <a:solidFill>
                  <a:srgbClr val="00B388"/>
                </a:solidFill>
                <a:latin typeface="Arial"/>
              </a:rPr>
              <a:t>Relation to the GaN technology roadmap</a:t>
            </a:r>
            <a:endParaRPr lang="zh-CN" altLang="en-US" sz="2400" dirty="0">
              <a:solidFill>
                <a:srgbClr val="00B388"/>
              </a:solidFill>
              <a:latin typeface="Avenir Next Medium" panose="020B0503020202020204" pitchFamily="34" charset="0"/>
              <a:ea typeface="+mj-ea"/>
            </a:endParaRPr>
          </a:p>
        </p:txBody>
      </p:sp>
      <p:pic>
        <p:nvPicPr>
          <p:cNvPr id="2" name="图片 6">
            <a:extLst>
              <a:ext uri="{FF2B5EF4-FFF2-40B4-BE49-F238E27FC236}">
                <a16:creationId xmlns:a16="http://schemas.microsoft.com/office/drawing/2014/main" id="{492BCE31-B125-0EA1-E1EC-ABD40158B9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50"/>
          <a:stretch>
            <a:fillRect/>
          </a:stretch>
        </p:blipFill>
        <p:spPr>
          <a:xfrm>
            <a:off x="1307117" y="1509672"/>
            <a:ext cx="10412444" cy="309730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755F60-7BDF-046C-2375-0F7453D02224}"/>
              </a:ext>
            </a:extLst>
          </p:cNvPr>
          <p:cNvCxnSpPr>
            <a:cxnSpLocks/>
          </p:cNvCxnSpPr>
          <p:nvPr/>
        </p:nvCxnSpPr>
        <p:spPr>
          <a:xfrm>
            <a:off x="7552113" y="2578079"/>
            <a:ext cx="15189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F835F5-9EB2-D361-69C1-0B1FDCEFD7F2}"/>
              </a:ext>
            </a:extLst>
          </p:cNvPr>
          <p:cNvCxnSpPr/>
          <p:nvPr/>
        </p:nvCxnSpPr>
        <p:spPr>
          <a:xfrm>
            <a:off x="7552113" y="3265768"/>
            <a:ext cx="2123524" cy="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A1C3A0B-98AF-56DE-07C7-61D428EE9292}"/>
              </a:ext>
            </a:extLst>
          </p:cNvPr>
          <p:cNvCxnSpPr>
            <a:cxnSpLocks/>
          </p:cNvCxnSpPr>
          <p:nvPr/>
        </p:nvCxnSpPr>
        <p:spPr>
          <a:xfrm>
            <a:off x="7552113" y="3977387"/>
            <a:ext cx="2841441" cy="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B6CE24B-E9FA-1D5E-DF8C-122BDAC6C770}"/>
              </a:ext>
            </a:extLst>
          </p:cNvPr>
          <p:cNvCxnSpPr/>
          <p:nvPr/>
        </p:nvCxnSpPr>
        <p:spPr>
          <a:xfrm>
            <a:off x="7552113" y="3025202"/>
            <a:ext cx="2123524" cy="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274320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0" i="0">
                <a:solidFill>
                  <a:srgbClr val="6B6B6B"/>
                </a:solidFill>
                <a:latin typeface="Arial"/>
              </a:rPr>
              <a:t>MBE PLATFORM PROPOSAL · ROADMAP ALIGNMENT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7592" y="4709160"/>
            <a:ext cx="10058400" cy="1483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50" b="0" i="1" dirty="0">
                <a:solidFill>
                  <a:srgbClr val="9A9A9A"/>
                </a:solidFill>
                <a:latin typeface="Arial"/>
              </a:rPr>
              <a:t>MRDI planar power </a:t>
            </a:r>
            <a:r>
              <a:rPr sz="950" b="0" i="1" dirty="0" err="1">
                <a:solidFill>
                  <a:srgbClr val="9A9A9A"/>
                </a:solidFill>
                <a:latin typeface="Arial"/>
              </a:rPr>
              <a:t>GaN</a:t>
            </a:r>
            <a:r>
              <a:rPr sz="950" b="0" i="1" dirty="0">
                <a:solidFill>
                  <a:srgbClr val="9A9A9A"/>
                </a:solidFill>
                <a:latin typeface="Arial"/>
              </a:rPr>
              <a:t> roadmap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760720"/>
            <a:ext cx="11064240" cy="713232"/>
          </a:xfrm>
          <a:prstGeom prst="rect">
            <a:avLst/>
          </a:prstGeom>
          <a:solidFill>
            <a:srgbClr val="00B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6031447"/>
            <a:ext cx="10698480" cy="1717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900" b="1" i="0" dirty="0">
                <a:solidFill>
                  <a:srgbClr val="E0F5EF"/>
                </a:solidFill>
                <a:latin typeface="Arial"/>
              </a:rPr>
              <a:t>WHAT THE ROADMAP NEEDS   </a:t>
            </a:r>
            <a:r>
              <a:rPr sz="1100" b="0" i="0" dirty="0">
                <a:solidFill>
                  <a:srgbClr val="FFFFFF"/>
                </a:solidFill>
                <a:latin typeface="Arial"/>
              </a:rPr>
              <a:t>Low-defectivity processes and scalable cost. Gen2 (2028) already schedules regrown S/D and scaled ohmic/gate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94592" y="647395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9A9A9A"/>
                </a:solidFill>
                <a:latin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4043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59459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MBE PLATFORM PROPOSAL · APPLICATIONS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standing user base before a single external sale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3593592" cy="4206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 dirty="0"/>
          </a:p>
        </p:txBody>
      </p:sp>
      <p:pic>
        <p:nvPicPr>
          <p:cNvPr id="7" name="Image 0" descr="assets/hrl_devi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6097" y="1495044"/>
            <a:ext cx="2793687" cy="1828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3401567"/>
            <a:ext cx="3227832" cy="474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Selective-area regrowth process module as standard services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9808" y="3767328"/>
            <a:ext cx="32278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Regrown ohmics and gates, buried heterostructures, PIC integration — turns a multi-week outsourced cycle into an in-house, days-long loop for MRDI users.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43400" y="1417320"/>
            <a:ext cx="3593592" cy="4206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1" descr="assets/multiwafe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43400" y="1417320"/>
            <a:ext cx="3593592" cy="1828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3401568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Nitride power &amp; RF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26280" y="3767328"/>
            <a:ext cx="32278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 HEMT stacks with MBE's abrupt interfaces and hydrogen-free p-doping — feeding MRDI's GaN pilot line and the GBA device chain directly.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19872" y="1417320"/>
            <a:ext cx="3593592" cy="4206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2" descr="assets/wafer_texture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19872" y="1417320"/>
            <a:ext cx="3593592" cy="1828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02752" y="3401568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MicroLED &amp; future materials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302752" y="3767328"/>
            <a:ext cx="32278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High-indium InGaN and tunnel junctions where MBE beats MOCVD; 12″ BTO / oxide epitaxy as the platform's next programme.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66928" y="5897880"/>
            <a:ext cx="11064240" cy="658368"/>
          </a:xfrm>
          <a:prstGeom prst="rect">
            <a:avLst/>
          </a:prstGeom>
          <a:solidFill>
            <a:srgbClr val="00B388"/>
          </a:solidFill>
          <a:ln/>
        </p:spPr>
        <p:txBody>
          <a:bodyPr/>
          <a:lstStyle/>
          <a:p>
            <a:endParaRPr lang="zh-CN" altLang="en-US">
              <a:solidFill>
                <a:srgbClr val="00B388"/>
              </a:solidFill>
            </a:endParaRPr>
          </a:p>
        </p:txBody>
      </p:sp>
      <p:sp>
        <p:nvSpPr>
          <p:cNvPr id="19" name="Text 14"/>
          <p:cNvSpPr/>
          <p:nvPr/>
        </p:nvSpPr>
        <p:spPr>
          <a:xfrm>
            <a:off x="749808" y="589788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DAY-ONE DEMAND   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MRDI's ~50 pilot runs per year · the GBA's merchant epi and device players — the platform qualifies into a market that already exists.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59459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MBE PLATFORM PROPOSAL · RISKS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risks, engineered mitigations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11064240" cy="420624"/>
          </a:xfrm>
          <a:prstGeom prst="rect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04088" y="146304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87368" y="146304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67528" y="1463040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883664"/>
            <a:ext cx="11064240" cy="80467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04088" y="1883664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8″ scale-up of self-built design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87368" y="1883664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67528" y="1883664"/>
            <a:ext cx="6172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follows proven production-MBE precedents; factory acceptance per module before shipment; G2/G3 hold points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04088" y="2688336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Anneal-module crystal quality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087368" y="2688336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67528" y="2688336"/>
            <a:ext cx="6172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anchored in published high-T anneal literature; dedicated DOE with XRD/TEM verification before device commitment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3493008"/>
            <a:ext cx="11064240" cy="80467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04088" y="3493008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Long-lead component slip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087368" y="3493008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Low–Med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67528" y="3493008"/>
            <a:ext cx="6172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procurement in Phase 1; 10% hardware contingency inside module budgets; gate reviews can re-sequence without moving first-epi milestone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04088" y="429768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recruitment in Hong Kong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087368" y="4297680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67528" y="4297680"/>
            <a:ext cx="6172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team from day one; Mota engineers seconded for build and training; MRDI hiring programme + GBA talent schemes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6928" y="5102352"/>
            <a:ext cx="11064240" cy="80467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04088" y="5102352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component shortfall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087368" y="5102352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67528" y="5102352"/>
            <a:ext cx="6172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baseline guarantees performance — domestic parts validated in parallel, never on the critical path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928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ownership: technical — joint chief engineer · procurement &amp; licensing — </a:t>
            </a:r>
            <a:r>
              <a:rPr lang="en-US" altLang="zh-CN" sz="9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MRDI with </a:t>
            </a:r>
            <a:r>
              <a:rPr lang="en-US" sz="9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Mota support · site &amp; operations — MRDI. Reviewed at every gate.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8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59459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HK$49.0M and 24 months —</a:t>
            </a:r>
            <a:endParaRPr lang="en-US" sz="3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region's first 8″ MBE platform is built, not bought.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9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MBE growth module and anneal module first — the quality core of the patented PVD + anneal + MBE cluster — designed jointly by MRDI and Mota, built from the best components the world still sells, and ready for Phase 2 to complete the 8–12″ cluster on the same interfaces.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4206240"/>
            <a:ext cx="2377440" cy="0"/>
          </a:xfrm>
          <a:prstGeom prst="line">
            <a:avLst/>
          </a:prstGeom>
          <a:noFill/>
          <a:ln w="12700">
            <a:solidFill>
              <a:srgbClr val="3CDBC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77240" y="4343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HK$49.0M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777240" y="4864608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9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27.5 equipment · 10.0 manpower · 5.1 ODC · 6.4 overheads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20440" y="4206240"/>
            <a:ext cx="2377440" cy="0"/>
          </a:xfrm>
          <a:prstGeom prst="line">
            <a:avLst/>
          </a:prstGeom>
          <a:noFill/>
          <a:ln w="12700">
            <a:solidFill>
              <a:srgbClr val="3CDBC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520440" y="4343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M18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520440" y="4864608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9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GaN epitaxy on 8″; device-grade MQW by M22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63640" y="4206240"/>
            <a:ext cx="2377440" cy="0"/>
          </a:xfrm>
          <a:prstGeom prst="line">
            <a:avLst/>
          </a:prstGeom>
          <a:noFill/>
          <a:ln w="12700">
            <a:solidFill>
              <a:srgbClr val="3CDBC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263640" y="4343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8″ → 8–12″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263640" y="4864608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9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cluster-ready today; PVD + hub complete it in Phase 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06840" y="4206240"/>
            <a:ext cx="2377440" cy="0"/>
          </a:xfrm>
          <a:prstGeom prst="line">
            <a:avLst/>
          </a:prstGeom>
          <a:noFill/>
          <a:ln w="12700">
            <a:solidFill>
              <a:srgbClr val="3CDBC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006840" y="43434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≥6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9006840" y="4864608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9F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component categories benchmarked on-tool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77240" y="6263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50" dirty="0">
                <a:solidFill>
                  <a:srgbClr val="B8E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MRDI × JIANGSU MOTA — AUGUST 2026 · FOR REVIEW COMMITTEE EVALUATION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52D0E56B-C6EF-82E6-AB21-6399FA78B5DE}"/>
              </a:ext>
            </a:extLst>
          </p:cNvPr>
          <p:cNvSpPr/>
          <p:nvPr/>
        </p:nvSpPr>
        <p:spPr>
          <a:xfrm>
            <a:off x="417864" y="1627632"/>
            <a:ext cx="6224476" cy="4100308"/>
          </a:xfrm>
          <a:prstGeom prst="rect">
            <a:avLst/>
          </a:prstGeom>
          <a:noFill/>
          <a:ln>
            <a:solidFill>
              <a:srgbClr val="00B3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159459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MBE PLATFORM PROPOSAL · BUDGET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HK$49.0M over 24 months — inside the HK$50M envelope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&amp; INSTALLATION — HK$27.5M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8″ MBE growth module (including load lock)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20116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chamber set · 10 sources · pumping · RHEED + diagnostics · handling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12080" y="1712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2450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2450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Anneal module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97280" y="27249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in-vacuo high-T recrystallisation chamber (nudged up from 2.5 for 8″ hot zone)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12080" y="2425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" y="31638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163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&amp; installation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97280" y="34381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LN₂ distribution · 3-phase + UPS · chiller · bake-out · O₂ alarm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12080" y="31391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38770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38770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Freight, insurance &amp; licences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97280" y="415137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EU→HK sea freight · rigging · customs · HK 3B001 import licence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12080" y="38523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45902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280" y="45902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&amp; software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97280" y="48646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PCs · DAQ · frame grabber · interlocks · open stack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12080" y="45656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532180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Deferred to Phase 2: PVD module, 12″ hub &amp; robotics, domestic validation sets (~HK$3.5M)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0" y="13716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ITF BUDGET STRUCTURE (HK$M)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0" y="17830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&amp; installation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315200" y="2057400"/>
            <a:ext cx="3300984" cy="182880"/>
          </a:xfrm>
          <a:prstGeom prst="rect">
            <a:avLst/>
          </a:prstGeom>
          <a:solidFill>
            <a:srgbClr val="00B3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0652760" y="1947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27.5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315200" y="24963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Manpower (6.2 FTE, 24 mo)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315200" y="2770632"/>
            <a:ext cx="1239048" cy="182880"/>
          </a:xfrm>
          <a:prstGeom prst="rect">
            <a:avLst/>
          </a:prstGeom>
          <a:solidFill>
            <a:srgbClr val="00B3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0652760" y="26609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315200" y="320954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direct costs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315200" y="3483864"/>
            <a:ext cx="655691" cy="182880"/>
          </a:xfrm>
          <a:prstGeom prst="rect">
            <a:avLst/>
          </a:prstGeom>
          <a:solidFill>
            <a:srgbClr val="00B3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0652760" y="33741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5.09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315200" y="392277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overheads (15%)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315200" y="4197096"/>
            <a:ext cx="809498" cy="182880"/>
          </a:xfrm>
          <a:prstGeom prst="rect">
            <a:avLst/>
          </a:prstGeom>
          <a:solidFill>
            <a:srgbClr val="00B3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0652760" y="4087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6.39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315200" y="4681728"/>
            <a:ext cx="4315968" cy="640080"/>
          </a:xfrm>
          <a:prstGeom prst="rect">
            <a:avLst/>
          </a:prstGeom>
          <a:solidFill>
            <a:srgbClr val="00B3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7498080" y="46817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F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  </a:t>
            </a: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HK$49.0M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15200" y="54589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contribution: Mota in-kind design IP + seconded engineers, ≥10% per ITF platform-project precedent.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66928" y="6035040"/>
            <a:ext cx="1106424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749808" y="603504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   </a:t>
            </a:r>
            <a:r>
              <a:rPr lang="en-US" sz="105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RIBER MBE 49 production tool was quoted at €3.54M ≈ HK$30M — more than this entire Phase-1 hardware budget, with no IP, no process database, and licence risk.</a:t>
            </a:r>
            <a:endParaRPr lang="en-US" sz="900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D25A124-C295-2818-50CB-5D1A0A6EDECA}"/>
              </a:ext>
            </a:extLst>
          </p:cNvPr>
          <p:cNvCxnSpPr/>
          <p:nvPr/>
        </p:nvCxnSpPr>
        <p:spPr>
          <a:xfrm>
            <a:off x="6642340" y="1627632"/>
            <a:ext cx="595222" cy="155448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EE29EC5-29CD-B181-F888-4A411F3212B7}"/>
              </a:ext>
            </a:extLst>
          </p:cNvPr>
          <p:cNvCxnSpPr/>
          <p:nvPr/>
        </p:nvCxnSpPr>
        <p:spPr>
          <a:xfrm flipV="1">
            <a:off x="6642340" y="2304288"/>
            <a:ext cx="595222" cy="3423652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59459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MBE PLATFORM PROPOSAL · BUDGET DETAIL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Manpower and direct costs follow MRDI project precedents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MANPOWER — HK$10.03M (structure of prior MRDI ITF budgets)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6446520" cy="420624"/>
          </a:xfrm>
          <a:prstGeom prst="rect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40080" y="1719072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/ rank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023360" y="1719072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63440" y="1719072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394960" y="1719072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(k)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126480" y="1719072"/>
            <a:ext cx="850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Subtotal (k)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6928" y="2139696"/>
            <a:ext cx="6446520" cy="42062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139696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 Leader (PC)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023360" y="2139696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63440" y="2139696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94960" y="2139696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26480" y="2139696"/>
            <a:ext cx="850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2560320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Manager / Principal Engineer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023360" y="2560320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63440" y="2560320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2560320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26480" y="2560320"/>
            <a:ext cx="850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3,600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6928" y="2980944"/>
            <a:ext cx="6446520" cy="42062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40080" y="2980944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Assoc. Principal / Lead Engineer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023360" y="2980944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63440" y="2980944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94960" y="2980944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26480" y="2980944"/>
            <a:ext cx="850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1,680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" y="3401568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Engineer / Engineer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023360" y="3401568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63440" y="3401568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94960" y="3401568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26480" y="3401568"/>
            <a:ext cx="850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4,032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6928" y="3822192"/>
            <a:ext cx="6446520" cy="420624"/>
          </a:xfrm>
          <a:prstGeom prst="rect">
            <a:avLst/>
          </a:prstGeom>
          <a:solidFill>
            <a:srgbClr val="E0F5E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40080" y="3822192"/>
            <a:ext cx="3273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023360" y="3822192"/>
            <a:ext cx="530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63440" y="3822192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394960" y="3822192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26480" y="3822192"/>
            <a:ext cx="850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10,032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" y="44348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Vacuum/mechanical · MBE process · controls software · electrical — one tightly integrated build team, trained on-tool for MRDI operations.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360920" y="13716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DIRECT COSTS — HK$5.09M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66928" y="5833872"/>
            <a:ext cx="11064240" cy="7772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777240" y="583387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IT BE DONE INSIDE HK$50M?  </a:t>
            </a:r>
            <a:r>
              <a:rPr lang="en-US" sz="1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with HK$1.0M headroom. The collaborator plan's HK$30M hardware is trimmed to HK$27.5M by deferring the PVD module and hub to Phase 2; HK$2.0M of added ODC funds short-loop wafer processing to validate regrowth results; manpower and ODC follow the audited MRDI budget precedents.</a:t>
            </a:r>
            <a:endParaRPr lang="en-US" sz="1100" dirty="0"/>
          </a:p>
        </p:txBody>
      </p:sp>
      <p:sp>
        <p:nvSpPr>
          <p:cNvPr id="66" name="Rectangle 65"/>
          <p:cNvSpPr/>
          <p:nvPr/>
        </p:nvSpPr>
        <p:spPr>
          <a:xfrm>
            <a:off x="7360920" y="1700784"/>
            <a:ext cx="4270248" cy="39776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52360" y="1700784"/>
            <a:ext cx="3246120" cy="3977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Arial"/>
              </a:rPr>
              <a:t>Source materials &amp; first fill (7N Ga, Al, Si, Mg · PBN · gaskets)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716768" y="1700784"/>
            <a:ext cx="822960" cy="3977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191919"/>
                </a:solidFill>
                <a:latin typeface="Arial"/>
              </a:rPr>
              <a:t>1,000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52360" y="2098548"/>
            <a:ext cx="3246120" cy="3977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Arial"/>
              </a:rPr>
              <a:t>Commissioning wafers &amp; substrates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716768" y="2098548"/>
            <a:ext cx="822960" cy="3977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191919"/>
                </a:solidFill>
                <a:latin typeface="Arial"/>
              </a:rPr>
              <a:t>800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60920" y="2496312"/>
            <a:ext cx="4270248" cy="39776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452360" y="2496312"/>
            <a:ext cx="3246120" cy="3977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Arial"/>
              </a:rPr>
              <a:t>LN₂, gases &amp; utilities (commissioning)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716768" y="2496312"/>
            <a:ext cx="822960" cy="3977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191919"/>
                </a:solidFill>
                <a:latin typeface="Arial"/>
              </a:rPr>
              <a:t>600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52360" y="2894076"/>
            <a:ext cx="3246120" cy="3977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Arial"/>
              </a:rPr>
              <a:t>Wafer processing — regrowth validation short-loops (~60 wafers)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716768" y="2894076"/>
            <a:ext cx="822960" cy="3977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191919"/>
                </a:solidFill>
                <a:latin typeface="Arial"/>
              </a:rPr>
              <a:t>1,500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360920" y="3291840"/>
            <a:ext cx="4270248" cy="39776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452360" y="3291840"/>
            <a:ext cx="3246120" cy="3977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Arial"/>
              </a:rPr>
              <a:t>Material &amp; device characterisation (AFM · XRD · mapping)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716768" y="3291840"/>
            <a:ext cx="822960" cy="3977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191919"/>
                </a:solidFill>
                <a:latin typeface="Arial"/>
              </a:rPr>
              <a:t>500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52360" y="3689604"/>
            <a:ext cx="3246120" cy="3977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Arial"/>
              </a:rPr>
              <a:t>Domestic-component validation consumables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716768" y="3689604"/>
            <a:ext cx="822960" cy="3977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191919"/>
                </a:solidFill>
                <a:latin typeface="Arial"/>
              </a:rPr>
              <a:t>300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60920" y="4087368"/>
            <a:ext cx="4270248" cy="39776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452360" y="4087368"/>
            <a:ext cx="3246120" cy="3977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Arial"/>
              </a:rPr>
              <a:t>Travel &amp; collaboration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716768" y="4087368"/>
            <a:ext cx="822960" cy="3977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191919"/>
                </a:solidFill>
                <a:latin typeface="Arial"/>
              </a:rPr>
              <a:t>200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52360" y="4485132"/>
            <a:ext cx="3246120" cy="3977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Arial"/>
              </a:rPr>
              <a:t>Publications &amp; patent filings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716768" y="4485132"/>
            <a:ext cx="822960" cy="3977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191919"/>
                </a:solidFill>
                <a:latin typeface="Arial"/>
              </a:rPr>
              <a:t>150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60920" y="4882896"/>
            <a:ext cx="4270248" cy="39776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452360" y="4882896"/>
            <a:ext cx="3246120" cy="3977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00" b="0">
                <a:solidFill>
                  <a:srgbClr val="6B6B6B"/>
                </a:solidFill>
                <a:latin typeface="Arial"/>
              </a:rPr>
              <a:t>Audit fee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16768" y="4882896"/>
            <a:ext cx="822960" cy="3977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>
                <a:solidFill>
                  <a:srgbClr val="191919"/>
                </a:solidFill>
                <a:latin typeface="Arial"/>
              </a:rPr>
              <a:t>40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60920" y="5280660"/>
            <a:ext cx="4270248" cy="397764"/>
          </a:xfrm>
          <a:prstGeom prst="rect">
            <a:avLst/>
          </a:prstGeom>
          <a:solidFill>
            <a:srgbClr val="E0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452360" y="5280660"/>
            <a:ext cx="3246120" cy="3977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00" b="1">
                <a:solidFill>
                  <a:srgbClr val="191919"/>
                </a:solidFill>
                <a:latin typeface="Arial"/>
              </a:rPr>
              <a:t>Subtotal (HK$k)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716768" y="5280660"/>
            <a:ext cx="822960" cy="3977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>
                <a:solidFill>
                  <a:srgbClr val="191919"/>
                </a:solidFill>
                <a:latin typeface="Arial"/>
              </a:rPr>
              <a:t>5,090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59459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274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MBE PLATFORM PROPOSAL · DELIVERABLES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566928" cy="685800"/>
          </a:xfrm>
          <a:prstGeom prst="rect">
            <a:avLst/>
          </a:prstGeom>
          <a:solidFill>
            <a:srgbClr val="00B3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66928" y="1463040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33856" y="1463040"/>
            <a:ext cx="612648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316736" y="1463040"/>
            <a:ext cx="5806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8″ MBE growth module + anneal module installed and commissioned at MRDI, cluster-ready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313432"/>
            <a:ext cx="566928" cy="685800"/>
          </a:xfrm>
          <a:prstGeom prst="rect">
            <a:avLst/>
          </a:prstGeom>
          <a:solidFill>
            <a:srgbClr val="00B3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66928" y="2313432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33856" y="2313432"/>
            <a:ext cx="612648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316736" y="2313432"/>
            <a:ext cx="5806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Open, jointly owned control software — Level-3+ automation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163824"/>
            <a:ext cx="566928" cy="685800"/>
          </a:xfrm>
          <a:prstGeom prst="rect">
            <a:avLst/>
          </a:prstGeom>
          <a:solidFill>
            <a:srgbClr val="00B3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66928" y="3163824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133856" y="3163824"/>
            <a:ext cx="612648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316736" y="3163824"/>
            <a:ext cx="5806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process flows: GaN epitaxy, MQW structures and selective-area regrowth on 8″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4014216"/>
            <a:ext cx="566928" cy="685800"/>
          </a:xfrm>
          <a:prstGeom prst="rect">
            <a:avLst/>
          </a:prstGeom>
          <a:solidFill>
            <a:srgbClr val="00B3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66928" y="4014216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33856" y="4014216"/>
            <a:ext cx="612648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316736" y="4014216"/>
            <a:ext cx="5806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component validation data — ≥6 categories benchmarked on-tool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864608"/>
            <a:ext cx="566928" cy="685800"/>
          </a:xfrm>
          <a:prstGeom prst="rect">
            <a:avLst/>
          </a:prstGeom>
          <a:solidFill>
            <a:srgbClr val="00B3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66928" y="486460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133856" y="4864608"/>
            <a:ext cx="612648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316736" y="4864608"/>
            <a:ext cx="5806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demos with MRDI pilot-line users + trained local engineering team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35240" y="14630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 (TARGETS)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35240" y="18288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10⁻¹¹ mbar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635240" y="2377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growth-module base pressure class after bake-out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635240" y="278892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M18 / M22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635240" y="3337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GaN epitaxy on 8″ / device-grade MQW (XRD, PL)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635240" y="374904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 patents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635240" y="4297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invention filings; jointly owned design + process IP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635240" y="470916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B3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≥12 FTE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635240" y="5257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engineers trained across vacuum, process, software</a:t>
            </a:r>
            <a:endParaRPr lang="en-US" sz="950" dirty="0"/>
          </a:p>
        </p:txBody>
      </p:sp>
      <p:pic>
        <p:nvPicPr>
          <p:cNvPr id="35" name="Image 0" descr="assets/wafer_textur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35240" y="5623560"/>
            <a:ext cx="393192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2785</Words>
  <Application>Microsoft Office PowerPoint</Application>
  <PresentationFormat>Widescreen</PresentationFormat>
  <Paragraphs>365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Avenir Next</vt:lpstr>
      <vt:lpstr>Avenir Next Demi Bold</vt:lpstr>
      <vt:lpstr>Avenir Next Medium</vt:lpstr>
      <vt:lpstr>Arial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Xia Jason</cp:lastModifiedBy>
  <cp:revision>34</cp:revision>
  <dcterms:created xsi:type="dcterms:W3CDTF">2026-08-17T08:49:29Z</dcterms:created>
  <dcterms:modified xsi:type="dcterms:W3CDTF">2026-08-19T02:05:53Z</dcterms:modified>
</cp:coreProperties>
</file>